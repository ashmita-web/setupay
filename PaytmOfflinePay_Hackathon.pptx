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0B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0"/>
            <a:ext cx="457200" cy="6858000"/>
          </a:xfrm>
          <a:prstGeom prst="rect">
            <a:avLst/>
          </a:prstGeom>
          <a:solidFill>
            <a:srgbClr val="008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Pay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457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D700"/>
                </a:solidFill>
                <a:latin typeface="Calibri"/>
              </a:rPr>
              <a:t>tm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2194560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970"/>
                </a:solidFill>
                <a:latin typeface="Calibri"/>
              </a:rPr>
              <a:t>  HACKATHON 2025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AI-Powered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D700"/>
                </a:solidFill>
                <a:latin typeface="Calibri"/>
              </a:rPr>
              <a:t>Offline Payments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E8F4FD"/>
                </a:solidFill>
                <a:latin typeface="Calibri"/>
              </a:rPr>
              <a:t>Pay without internet.  Always.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14800"/>
            <a:ext cx="2103120" cy="347472"/>
          </a:xfrm>
          <a:prstGeom prst="rect">
            <a:avLst/>
          </a:prstGeom>
          <a:solidFill>
            <a:srgbClr val="00B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  AI Credit Limit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0" y="4114800"/>
            <a:ext cx="2103120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41148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  Bluetooth P2P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4114800"/>
            <a:ext cx="2103120" cy="34747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41148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  Auto-Sync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D"/>
                </a:solidFill>
                <a:latin typeface="Calibri"/>
              </a:rPr>
              <a:t>Team Issavibles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3716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⚡  Offline-First UPI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2970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04672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06060"/>
                </a:solidFill>
                <a:latin typeface="Calibri"/>
              </a:rPr>
              <a:t>India's digital payment system has a critical blind spot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12880" cy="2743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28346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2834640" cy="54864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3716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2970"/>
                </a:solidFill>
                <a:latin typeface="Calibri"/>
              </a:rPr>
              <a:t>66%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212848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606060"/>
                </a:solidFill>
                <a:latin typeface="Calibri"/>
              </a:rPr>
              <a:t>Indians face payment disruptions every month due to poor connectivity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5263" y="1280160"/>
            <a:ext cx="28346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55263" y="1280160"/>
            <a:ext cx="2834640" cy="54864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5263" y="13716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2970"/>
                </a:solidFill>
                <a:latin typeface="Calibri"/>
              </a:rPr>
              <a:t>500M+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3" y="2212848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606060"/>
                </a:solidFill>
                <a:latin typeface="Calibri"/>
              </a:rPr>
              <a:t>Users in Tier 2/3 cities where internet is unreliable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7" y="1280160"/>
            <a:ext cx="28346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7" y="1280160"/>
            <a:ext cx="2834640" cy="54864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7" y="13716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2970"/>
                </a:solidFill>
                <a:latin typeface="Calibri"/>
              </a:rPr>
              <a:t>₹0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7" y="2212848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606060"/>
                </a:solidFill>
                <a:latin typeface="Calibri"/>
              </a:rPr>
              <a:t>Offline payment capability in any major UPI app today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17152" y="1280160"/>
            <a:ext cx="28346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17152" y="1280160"/>
            <a:ext cx="2834640" cy="54864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7152" y="13716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2970"/>
                </a:solidFill>
                <a:latin typeface="Calibri"/>
              </a:rPr>
              <a:t>15–30s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4312" y="2212848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606060"/>
                </a:solidFill>
                <a:latin typeface="Calibri"/>
              </a:rPr>
              <a:t>Average UPI timeout — leading to double-payments &amp; confusion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520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970"/>
                </a:solidFill>
                <a:latin typeface="Calibri"/>
              </a:rPr>
              <a:t>Root Causes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886200"/>
            <a:ext cx="3749039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886200"/>
            <a:ext cx="54864" cy="2468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95020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970"/>
                </a:solidFill>
                <a:latin typeface="Calibri"/>
              </a:rPr>
              <a:t>No connectivity = no payment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3434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Every UPI transaction requires a live bank server call. No fallback exists.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59" y="3886200"/>
            <a:ext cx="3749039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51959" y="3886200"/>
            <a:ext cx="54864" cy="2468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19" y="395020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970"/>
                </a:solidFill>
                <a:latin typeface="Calibri"/>
              </a:rPr>
              <a:t>Merchants bear the cost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19" y="43434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Failed payments at the counter = lost sales, awkward moments, and declining trust.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3886200"/>
            <a:ext cx="3749039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3886200"/>
            <a:ext cx="54864" cy="2468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395020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970"/>
                </a:solidFill>
                <a:latin typeface="Calibri"/>
              </a:rPr>
              <a:t>Rural &amp; metro dead zones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3434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Basements, metro stations, mountains, and 2G zones all break the payment 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2970"/>
                </a:solidFill>
                <a:latin typeface="Calibr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04672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06060"/>
                </a:solidFill>
                <a:latin typeface="Calibri"/>
              </a:rPr>
              <a:t>Decouple payment capture from settlement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12880" cy="2743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640312" cy="64008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💡  Core Insight: A payment can be captured offline and settled later — safely, with cryptographic guarantees.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11680"/>
            <a:ext cx="3749039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11680"/>
            <a:ext cx="3749039" cy="73152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48840"/>
            <a:ext cx="411480" cy="41148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48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488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970"/>
                </a:solidFill>
                <a:latin typeface="Calibri"/>
              </a:rPr>
              <a:t>AI/ML
Credit Limit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346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Server assigns per-user offline limit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546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Based on: KYC, transaction history,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747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device trust, fraud signals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947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Cached on-device for 24 hours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148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Expires if not refreshed online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59" y="2011680"/>
            <a:ext cx="3749039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59" y="2011680"/>
            <a:ext cx="3749039" cy="73152"/>
          </a:xfrm>
          <a:prstGeom prst="rect">
            <a:avLst/>
          </a:prstGeom>
          <a:solidFill>
            <a:srgbClr val="00B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39" y="2148840"/>
            <a:ext cx="411480" cy="411480"/>
          </a:xfrm>
          <a:prstGeom prst="rect">
            <a:avLst/>
          </a:prstGeom>
          <a:solidFill>
            <a:srgbClr val="00B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39" y="2148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59" y="21488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9F1"/>
                </a:solidFill>
                <a:latin typeface="Calibri"/>
              </a:rPr>
              <a:t>Signed Offline
Payments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39" y="28346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Ed25519 cryptographic signatures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39" y="31546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Nonce-based replay protection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39" y="34747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3 modes: Online, Offline, BLE P2P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39" y="37947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Stored in encrypted SQLite queue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39" y="41148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Debit local limit immediately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2011680"/>
            <a:ext cx="3749039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2011680"/>
            <a:ext cx="3749039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12480" y="2148840"/>
            <a:ext cx="411480" cy="4114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2148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21488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  <a:latin typeface="Calibri"/>
              </a:rPr>
              <a:t>Auto-Sync
Reconciliation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8346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Triggers on connectivity restore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1546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Idempotent batch submission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4747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Fraud check + signature verify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7947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Ledger settlement + new limit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1148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Handles duplicates gracefully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2970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04672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06060"/>
                </a:solidFill>
                <a:latin typeface="Calibri"/>
              </a:rPr>
              <a:t>What runs on-device vs. on-server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12880" cy="2743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56616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3566160" cy="41148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618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📱  On-Device (Flutter)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83080"/>
            <a:ext cx="3291840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105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970"/>
                </a:solidFill>
                <a:latin typeface="Calibri"/>
              </a:rPr>
              <a:t>Offline Limit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574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Calibri"/>
              </a:rPr>
              <a:t>Caches AI limit · expires 24h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468880"/>
            <a:ext cx="3291840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963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970"/>
                </a:solidFill>
                <a:latin typeface="Calibri"/>
              </a:rPr>
              <a:t>Payment Blob Queue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432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Calibri"/>
              </a:rPr>
              <a:t>Encrypted SQLite · signed blobs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154680"/>
            <a:ext cx="3291840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1821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970"/>
                </a:solidFill>
                <a:latin typeface="Calibri"/>
              </a:rPr>
              <a:t>BLE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4290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Calibri"/>
              </a:rPr>
              <a:t>Advertise + scan + transfer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840480"/>
            <a:ext cx="3291840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8679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970"/>
                </a:solidFill>
                <a:latin typeface="Calibri"/>
              </a:rPr>
              <a:t>Connectivity Monitor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148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Calibri"/>
              </a:rPr>
              <a:t>Live stream · triggers sync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526280"/>
            <a:ext cx="3291840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5537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970"/>
                </a:solidFill>
                <a:latin typeface="Calibri"/>
              </a:rPr>
              <a:t>Sync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8006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Calibri"/>
              </a:rPr>
              <a:t>Background · idempotent POST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212080"/>
            <a:ext cx="3291840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2395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970"/>
                </a:solidFill>
                <a:latin typeface="Calibri"/>
              </a:rPr>
              <a:t>Local Risk Scorer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4864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Calibri"/>
              </a:rPr>
              <a:t>Penalty per pending payment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3566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2970"/>
                </a:solidFill>
                <a:latin typeface="Calibri"/>
              </a:rPr>
              <a:t>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416052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  <a:latin typeface="Calibri"/>
              </a:rPr>
              <a:t>REST
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743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9F1"/>
                </a:solidFill>
                <a:latin typeface="Calibri"/>
              </a:rPr>
              <a:t>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3375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9F1"/>
                </a:solidFill>
                <a:latin typeface="Calibri"/>
              </a:rPr>
              <a:t>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1234440"/>
            <a:ext cx="36576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3440" y="1234440"/>
            <a:ext cx="3657600" cy="411480"/>
          </a:xfrm>
          <a:prstGeom prst="rect">
            <a:avLst/>
          </a:prstGeom>
          <a:solidFill>
            <a:srgbClr val="00B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09160" y="126187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☁️  Backend (FastAPI + Render)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00600" y="1783080"/>
            <a:ext cx="3383280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0" y="18105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9F1"/>
                </a:solidFill>
                <a:latin typeface="Calibri"/>
              </a:rPr>
              <a:t>Auth Service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205740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Calibri"/>
              </a:rPr>
              <a:t>JWT · secure token management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00600" y="2468880"/>
            <a:ext cx="3383280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0" y="24963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9F1"/>
                </a:solidFill>
                <a:latin typeface="Calibri"/>
              </a:rPr>
              <a:t>ML Risk Engine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0" y="274320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Calibri"/>
              </a:rPr>
              <a:t>sklearn · heuristic fallback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00600" y="3154680"/>
            <a:ext cx="3383280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37760" y="31821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9F1"/>
                </a:solidFill>
                <a:latin typeface="Calibri"/>
              </a:rPr>
              <a:t>Token Vault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60" y="342900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Calibri"/>
              </a:rPr>
              <a:t>Ed25519 signing · expiry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00600" y="3840480"/>
            <a:ext cx="3383280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37760" y="38679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9F1"/>
                </a:solidFill>
                <a:latin typeface="Calibri"/>
              </a:rPr>
              <a:t>Offline Sync API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411480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Calibri"/>
              </a:rPr>
              <a:t>Idempotent · batch reconcile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00600" y="4526280"/>
            <a:ext cx="3383280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37760" y="45537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9F1"/>
                </a:solidFill>
                <a:latin typeface="Calibri"/>
              </a:rPr>
              <a:t>Fraud Engine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60" y="480060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Calibri"/>
              </a:rPr>
              <a:t>Velocity · anomaly · blacklist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00600" y="5212080"/>
            <a:ext cx="3383280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37760" y="52395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9F1"/>
                </a:solidFill>
                <a:latin typeface="Calibri"/>
              </a:rPr>
              <a:t>Ledger Service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37760" y="548640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Calibri"/>
              </a:rPr>
              <a:t>Double-entry · audit trail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12480" y="1234440"/>
            <a:ext cx="356616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12480" y="1234440"/>
            <a:ext cx="3566160" cy="4114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58200" y="12618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🗄️  Data (PostgreSQL)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49640" y="1783080"/>
            <a:ext cx="3291840" cy="7315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86800" y="18105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50"/>
                </a:solidFill>
                <a:latin typeface="Calibri"/>
              </a:rPr>
              <a:t>users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20574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06060"/>
                </a:solidFill>
                <a:latin typeface="Calibri"/>
              </a:rPr>
              <a:t>id, balance, kyc_tier, device_trust_score, fraud_flags, offline_limit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49640" y="2587752"/>
            <a:ext cx="3291840" cy="7315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86800" y="261518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50"/>
                </a:solidFill>
                <a:latin typeface="Calibri"/>
              </a:rPr>
              <a:t>transactions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286207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06060"/>
                </a:solidFill>
                <a:latin typeface="Calibri"/>
              </a:rPr>
              <a:t>id, sender_id, receiver_id, amount, nonce, status, settled_at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49640" y="3392424"/>
            <a:ext cx="3291840" cy="7315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86800" y="34198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50"/>
                </a:solidFill>
                <a:latin typeface="Calibri"/>
              </a:rPr>
              <a:t>offline_tokens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0" y="3666744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06060"/>
                </a:solidFill>
                <a:latin typeface="Calibri"/>
              </a:rPr>
              <a:t>token_id, user_id, amount, signature, expiry, is_consumed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49640" y="4197096"/>
            <a:ext cx="3291840" cy="7315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86800" y="4224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50"/>
                </a:solidFill>
                <a:latin typeface="Calibri"/>
              </a:rPr>
              <a:t>ledger_entries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0" y="447141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06060"/>
                </a:solidFill>
                <a:latin typeface="Calibri"/>
              </a:rPr>
              <a:t>user_id, tx_id, entry_type, amount, balance_after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549640" y="5001768"/>
            <a:ext cx="3291840" cy="7315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86800" y="5029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50"/>
                </a:solidFill>
                <a:latin typeface="Calibri"/>
              </a:rPr>
              <a:t>payment_blobs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0" y="527608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06060"/>
                </a:solidFill>
                <a:latin typeface="Calibri"/>
              </a:rPr>
              <a:t>id, sender_id, receiver_id, nonce, is_offline, 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2970"/>
                </a:solidFill>
                <a:latin typeface="Calibri"/>
              </a:rPr>
              <a:t>Three Payment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04672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06060"/>
                </a:solidFill>
                <a:latin typeface="Calibri"/>
              </a:rPr>
              <a:t>Covering every connectivity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12880" cy="2743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1920240" cy="14173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7830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Case 1 — Sender Offline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709928"/>
            <a:ext cx="16916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1709928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9800"/>
                </a:solidFill>
                <a:latin typeface="Calibri"/>
              </a:rPr>
              <a:t>Check local
offline limit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7368" y="1837944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9800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709928"/>
            <a:ext cx="16916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1709928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9800"/>
                </a:solidFill>
                <a:latin typeface="Calibri"/>
              </a:rPr>
              <a:t>Create signed
payment blob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25896" y="1837944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9800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1709928"/>
            <a:ext cx="16916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1709928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9800"/>
                </a:solidFill>
                <a:latin typeface="Calibri"/>
              </a:rPr>
              <a:t>Store in
SQLite queue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64424" y="1837944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9800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3024" y="1709928"/>
            <a:ext cx="16916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4" y="1709928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9800"/>
                </a:solidFill>
                <a:latin typeface="Calibri"/>
              </a:rPr>
              <a:t>Show 'Sent
(offline)'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2952" y="1837944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9800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31552" y="1709928"/>
            <a:ext cx="16916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31552" y="1709928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9800"/>
                </a:solidFill>
                <a:latin typeface="Calibri"/>
              </a:rPr>
              <a:t>Auto-sync
when online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108960"/>
            <a:ext cx="1920240" cy="1417320"/>
          </a:xfrm>
          <a:prstGeom prst="rect">
            <a:avLst/>
          </a:prstGeom>
          <a:solidFill>
            <a:srgbClr val="00B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5661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Case 2 — Receiver Offline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0" y="3493008"/>
            <a:ext cx="16916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B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77440" y="3493008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9F1"/>
                </a:solidFill>
                <a:latin typeface="Calibri"/>
              </a:rPr>
              <a:t>Sender online
API call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87368" y="3621024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9F1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15968" y="3493008"/>
            <a:ext cx="16916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B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15968" y="3493008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9F1"/>
                </a:solidFill>
                <a:latin typeface="Calibri"/>
              </a:rPr>
              <a:t>Debit bank
immediately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25896" y="3621024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9F1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54496" y="3493008"/>
            <a:ext cx="16916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B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54496" y="3493008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9F1"/>
                </a:solidFill>
                <a:latin typeface="Calibri"/>
              </a:rPr>
              <a:t>Server holds
credit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64424" y="3621024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9F1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93024" y="3493008"/>
            <a:ext cx="16916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B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93024" y="3493008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9F1"/>
                </a:solidFill>
                <a:latin typeface="Calibri"/>
              </a:rPr>
              <a:t>Receiver
syncs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2952" y="3621024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9F1"/>
                </a:solidFill>
                <a:latin typeface="Calibr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31552" y="3493008"/>
            <a:ext cx="16916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B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31552" y="3493008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9F1"/>
                </a:solidFill>
                <a:latin typeface="Calibri"/>
              </a:rPr>
              <a:t>Credit
applied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892040"/>
            <a:ext cx="1920240" cy="141732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53492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Case 3 — Both Offline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77440" y="5276088"/>
            <a:ext cx="16916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2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77440" y="5276088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970"/>
                </a:solidFill>
                <a:latin typeface="Calibri"/>
              </a:rPr>
              <a:t>Scan QR
(BLE UUID)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87368" y="5404104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970"/>
                </a:solidFill>
                <a:latin typeface="Calibri"/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15968" y="5276088"/>
            <a:ext cx="16916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2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15968" y="5276088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970"/>
                </a:solidFill>
                <a:latin typeface="Calibri"/>
              </a:rPr>
              <a:t>BLE device
discovery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25896" y="5404104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970"/>
                </a:solidFill>
                <a:latin typeface="Calibri"/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54496" y="5276088"/>
            <a:ext cx="16916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2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54496" y="5276088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970"/>
                </a:solidFill>
                <a:latin typeface="Calibri"/>
              </a:rPr>
              <a:t>Blob sent
via BLE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64424" y="5404104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970"/>
                </a:solidFill>
                <a:latin typeface="Calibri"/>
              </a:rPr>
              <a:t>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93024" y="5276088"/>
            <a:ext cx="16916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2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93024" y="5276088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970"/>
                </a:solidFill>
                <a:latin typeface="Calibri"/>
              </a:rPr>
              <a:t>Both queue
locally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02952" y="5404104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970"/>
                </a:solidFill>
                <a:latin typeface="Calibri"/>
              </a:rPr>
              <a:t>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131552" y="5276088"/>
            <a:ext cx="16916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2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31552" y="5276088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970"/>
                </a:solidFill>
                <a:latin typeface="Calibri"/>
              </a:rPr>
              <a:t>First online
settles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2970"/>
                </a:solidFill>
                <a:latin typeface="Calibri"/>
              </a:rPr>
              <a:t>AI / ML Risk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04672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06060"/>
                </a:solidFill>
                <a:latin typeface="Calibri"/>
              </a:rPr>
              <a:t>The intelligence behind every offline limit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12880" cy="2743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6060"/>
                </a:solidFill>
                <a:latin typeface="Calibri"/>
              </a:rPr>
              <a:t>INPUT 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00200"/>
            <a:ext cx="3566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276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970"/>
                </a:solidFill>
                <a:latin typeface="Calibri"/>
              </a:rPr>
              <a:t>📊  Transaction 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7451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Calibri"/>
              </a:rPr>
              <a:t>How many payments last 30 days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58568"/>
            <a:ext cx="3566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286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970"/>
                </a:solidFill>
                <a:latin typeface="Calibri"/>
              </a:rPr>
              <a:t>💰  Avg. Transaction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53288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Calibri"/>
              </a:rPr>
              <a:t>Typical spend pattern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916936"/>
            <a:ext cx="3566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9443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970"/>
                </a:solidFill>
                <a:latin typeface="Calibri"/>
              </a:rPr>
              <a:t>🪪  KYC Tier (1–3)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19125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Calibri"/>
              </a:rPr>
              <a:t>Verification level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575304"/>
            <a:ext cx="3566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6027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970"/>
                </a:solidFill>
                <a:latin typeface="Calibri"/>
              </a:rPr>
              <a:t>📱  Device Trust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8496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Calibri"/>
              </a:rPr>
              <a:t>Device reputation 0–1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233672"/>
            <a:ext cx="3566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26110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970"/>
                </a:solidFill>
                <a:latin typeface="Calibri"/>
              </a:rPr>
              <a:t>📅  Account 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5079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Calibri"/>
              </a:rPr>
              <a:t>Days since registration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892040"/>
            <a:ext cx="3566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9194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970"/>
                </a:solidFill>
                <a:latin typeface="Calibri"/>
              </a:rPr>
              <a:t>🚨  Fraud Flags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16635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Calibri"/>
              </a:rPr>
              <a:t>Past suspicious activity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3474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2970"/>
                </a:solidFill>
                <a:latin typeface="Calibri"/>
              </a:rPr>
              <a:t>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023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6060"/>
                </a:solidFill>
                <a:latin typeface="Calibri"/>
              </a:rPr>
              <a:t>sklearn
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6060"/>
                </a:solidFill>
                <a:latin typeface="Calibri"/>
              </a:rPr>
              <a:t>OFFLINE LIMIT TIERS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1600200"/>
            <a:ext cx="3931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166420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&lt; 0.2  (Very Low Risk)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166420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4CAF50"/>
                </a:solidFill>
                <a:latin typeface="Calibri"/>
              </a:rPr>
              <a:t>₹5,000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258568"/>
            <a:ext cx="3931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2322576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0.2–0.4  (Low Risk)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232257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4CAF50"/>
                </a:solidFill>
                <a:latin typeface="Calibri"/>
              </a:rPr>
              <a:t>₹3,000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2916936"/>
            <a:ext cx="3931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9160" y="2980944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0.4–0.6  (Medium Risk)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298094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9800"/>
                </a:solidFill>
                <a:latin typeface="Calibri"/>
              </a:rPr>
              <a:t>₹1,500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3575304"/>
            <a:ext cx="3931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9160" y="363931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0.6–0.8  (High Risk)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6393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9800"/>
                </a:solidFill>
                <a:latin typeface="Calibri"/>
              </a:rPr>
              <a:t>₹500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4233672"/>
            <a:ext cx="3931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09160" y="42976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0.8–0.9  (Very High)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4297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53935"/>
                </a:solidFill>
                <a:latin typeface="Calibri"/>
              </a:rPr>
              <a:t>₹100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4892040"/>
            <a:ext cx="3931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09160" y="49560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&gt; 0.9  (Blocked)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495604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53935"/>
                </a:solidFill>
                <a:latin typeface="Calibri"/>
              </a:rPr>
              <a:t>₹0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0" y="1234440"/>
            <a:ext cx="3291840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2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86800" y="1234440"/>
            <a:ext cx="3291840" cy="41148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78240" y="12618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Local Re-Scoring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23960" y="173736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After EACH offline payment: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23960" y="2011679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23960" y="228600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9F1"/>
                </a:solidFill>
                <a:latin typeface="Calibri"/>
              </a:rPr>
              <a:t>penalty = 1 – (pending × 0.1)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23960" y="256032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9F1"/>
                </a:solidFill>
                <a:latin typeface="Calibri"/>
              </a:rPr>
              <a:t>capped at 30% floor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23960" y="2834639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23960" y="310896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Example: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23960" y="3383279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1 pending → 90% of limit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23960" y="365760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2 pending → 80% of limit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23960" y="393192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5 pending → 50% of limit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23960" y="420624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7+ pending → 30% (floor)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23960" y="448056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23960" y="4754879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970"/>
                </a:solidFill>
                <a:latin typeface="Calibri"/>
              </a:rPr>
              <a:t>→ Prevents chaining exploit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23960" y="502920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970"/>
                </a:solidFill>
                <a:latin typeface="Calibri"/>
              </a:rPr>
              <a:t>→ Runs entirely on-device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23960" y="530352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970"/>
                </a:solidFill>
                <a:latin typeface="Calibri"/>
              </a:rPr>
              <a:t>→ No server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2970"/>
                </a:solidFill>
                <a:latin typeface="Calibri"/>
              </a:rPr>
              <a:t>Security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04672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06060"/>
                </a:solidFill>
                <a:latin typeface="Calibri"/>
              </a:rPr>
              <a:t>Trust without connectivity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12880" cy="2743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6692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669280" cy="73152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970"/>
                </a:solidFill>
                <a:latin typeface="Calibri"/>
              </a:rPr>
              <a:t>🔐  Ed25519 Signatures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8288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Server holds private key (env var on Render)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1671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Public key distributed to all clients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50545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Every token cryptographically signed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843783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Device verifies before accepting payment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31821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Tamper-evident — any modification = invalid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56692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234440"/>
            <a:ext cx="5669280" cy="73152"/>
          </a:xfrm>
          <a:prstGeom prst="rect">
            <a:avLst/>
          </a:prstGeom>
          <a:solidFill>
            <a:srgbClr val="00B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9F1"/>
                </a:solidFill>
                <a:latin typeface="Calibri"/>
              </a:rPr>
              <a:t>🔁  Replay Protection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18288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UUID nonce generated per payment blob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1671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Backend deduplicates by (sender+receiver+nonce)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50545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Idempotency key on all sync submissions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843783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Prevents double-spend even if synced twice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1821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SQLite queue tracks blob state locally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886200"/>
            <a:ext cx="56692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886200"/>
            <a:ext cx="5669280" cy="731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4023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800"/>
                </a:solidFill>
                <a:latin typeface="Calibri"/>
              </a:rPr>
              <a:t>🚨  Fraud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" y="44805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Velocity checks: &gt;5 txns/min = flagged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" y="48188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Amount anomaly: &gt;3× avg = reviewed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515721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Consecutive offline cap (local re-scoring)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5495543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Blacklist lookup on every sync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58338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Fraud flags persist across sessions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886200"/>
            <a:ext cx="56692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886200"/>
            <a:ext cx="5669280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2512" y="4023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  <a:latin typeface="Calibri"/>
              </a:rPr>
              <a:t>⏱️  Expiry &amp; Caps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44805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Offline limit expires in 24 hours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48188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Expired + offline = limit becomes ₹0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515721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Max 10 tokens cached per session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5495543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Per-session transaction count cap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58338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 Dynamic revocation via flag propagation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2970"/>
                </a:solidFill>
                <a:latin typeface="Calibri"/>
              </a:rPr>
              <a:t>Live App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04672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06060"/>
                </a:solidFill>
                <a:latin typeface="Calibri"/>
              </a:rPr>
              <a:t>Fully functional on physical Android devices — tested offline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12880" cy="2743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749039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1280160" cy="20116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25880"/>
            <a:ext cx="1280160" cy="36576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1188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002970"/>
                </a:solidFill>
                <a:latin typeface="Calibri"/>
              </a:rPr>
              <a:t>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344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970"/>
                </a:solidFill>
                <a:latin typeface="Calibri"/>
              </a:rPr>
              <a:t>Home Screen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73736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Calibri"/>
              </a:rPr>
              <a:t>Offline limit badge prominently displayed.
Promo banner: 'Pay without internet. Always.'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234440"/>
            <a:ext cx="3749039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19" y="1325880"/>
            <a:ext cx="1280160" cy="20116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19" y="1325880"/>
            <a:ext cx="1280160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39" y="1691640"/>
            <a:ext cx="1188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9800"/>
                </a:solidFill>
                <a:latin typeface="Calibri"/>
              </a:rPr>
              <a:t>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19" y="1344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800"/>
                </a:solidFill>
                <a:latin typeface="Calibri"/>
              </a:rPr>
              <a:t>Offline Mode Banner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19" y="173736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Calibri"/>
              </a:rPr>
              <a:t>Instant orange banner when internet drops.
Animated — appears within 1 second.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234440"/>
            <a:ext cx="3749039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66760" y="1325880"/>
            <a:ext cx="1280160" cy="20116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66760" y="1325880"/>
            <a:ext cx="1280160" cy="365760"/>
          </a:xfrm>
          <a:prstGeom prst="rect">
            <a:avLst/>
          </a:prstGeom>
          <a:solidFill>
            <a:srgbClr val="00B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691640"/>
            <a:ext cx="1188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00B9F1"/>
                </a:solidFill>
                <a:latin typeface="Calibri"/>
              </a:rPr>
              <a:t>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1344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9F1"/>
                </a:solidFill>
                <a:latin typeface="Calibri"/>
              </a:rPr>
              <a:t>Scan &amp; Pay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173736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Calibri"/>
              </a:rPr>
              <a:t>Scan any user's QR (merchant, retailer, user).
Amount input with limit check inline.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977639"/>
            <a:ext cx="3749039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4069079"/>
            <a:ext cx="1280160" cy="20116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4069079"/>
            <a:ext cx="1280160" cy="3657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434839"/>
            <a:ext cx="1188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4CAF50"/>
                </a:solidFill>
                <a:latin typeface="Calibri"/>
              </a:rPr>
              <a:t>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408736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50"/>
                </a:solidFill>
                <a:latin typeface="Calibri"/>
              </a:rPr>
              <a:t>Payment Receipt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4480559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Calibri"/>
              </a:rPr>
              <a:t>Pending Sync status with numbered steps.
Copyable payment ID for audit trail.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59" y="3977639"/>
            <a:ext cx="3749039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19" y="4069079"/>
            <a:ext cx="1280160" cy="20116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89119" y="4069079"/>
            <a:ext cx="1280160" cy="36576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39" y="4434839"/>
            <a:ext cx="1188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7C4DFF"/>
                </a:solidFill>
                <a:latin typeface="Calibri"/>
              </a:rPr>
              <a:t>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19" y="408736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4DFF"/>
                </a:solidFill>
                <a:latin typeface="Calibri"/>
              </a:rPr>
              <a:t>AI Limit Explainer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19" y="4480559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Calibri"/>
              </a:rPr>
              <a:t>Tappable limit shows per-factor breakdown.
Credit score 0–100 with progress bar.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3977639"/>
            <a:ext cx="3749039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66760" y="4069079"/>
            <a:ext cx="1280160" cy="20116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66760" y="4069079"/>
            <a:ext cx="1280160" cy="36576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4434839"/>
            <a:ext cx="1188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002970"/>
                </a:solidFill>
                <a:latin typeface="Calibri"/>
              </a:rPr>
              <a:t>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38360" y="408736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970"/>
                </a:solidFill>
                <a:latin typeface="Calibri"/>
              </a:rPr>
              <a:t>My QR Code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38360" y="4480559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Calibri"/>
              </a:rPr>
              <a:t>Universal QR — works for all user types.
BLE UUID embedded for Case 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2970"/>
                </a:solidFill>
                <a:latin typeface="Calibri"/>
              </a:rPr>
              <a:t>Sync &amp; Reconciliation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04672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06060"/>
                </a:solidFill>
                <a:latin typeface="Calibri"/>
              </a:rPr>
              <a:t>What happens when you come back online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12880" cy="2743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920240"/>
            <a:ext cx="1280160" cy="73152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92024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Internet
Restored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5740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06060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920240"/>
            <a:ext cx="1280160" cy="731520"/>
          </a:xfrm>
          <a:prstGeom prst="rect">
            <a:avLst/>
          </a:prstGeom>
          <a:solidFill>
            <a:srgbClr val="00B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64208" y="192024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Background
Sync Trigger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05740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06060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54096" y="1920240"/>
            <a:ext cx="1280160" cy="73152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54096" y="192024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Collect
Pending Blobs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205740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06060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43984" y="1920240"/>
            <a:ext cx="1280160" cy="731520"/>
          </a:xfrm>
          <a:prstGeom prst="rect">
            <a:avLst/>
          </a:prstGeom>
          <a:solidFill>
            <a:srgbClr val="00B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192024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POST
/api/offline/sync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24144" y="205740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06060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33872" y="1920240"/>
            <a:ext cx="1280160" cy="7315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33872" y="192024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Validate
Signatures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4032" y="205740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06060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1920240"/>
            <a:ext cx="1280160" cy="7315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192024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Fraud
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05740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06060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13648" y="1920240"/>
            <a:ext cx="1280160" cy="7315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13648" y="192024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Settle
Ledger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93808" y="205740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06060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03536" y="1920240"/>
            <a:ext cx="1280160" cy="73152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03536" y="192024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Push New
Limit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2971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6060"/>
                </a:solidFill>
                <a:latin typeface="Calibri"/>
              </a:rPr>
              <a:t>RECONCILIATION OUTCOMES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337560"/>
            <a:ext cx="283464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3337560"/>
            <a:ext cx="2834640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34564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50"/>
                </a:solidFill>
                <a:latin typeface="Calibri"/>
              </a:rPr>
              <a:t>✅  ACCEPTED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384048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Signature valid · nonce unique · fraud-free · amount within limit
→ Deduct from user's bank balance · Credit merchant · Update ledger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64408" y="3337560"/>
            <a:ext cx="283464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64408" y="3337560"/>
            <a:ext cx="2834640" cy="731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01568" y="34564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800"/>
                </a:solidFill>
                <a:latin typeface="Calibri"/>
              </a:rPr>
              <a:t>⚠️  ADJUSTED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01568" y="384048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Amount exceeds remaining limit (race condition between devices)
→ Partially settle up to available limit · Return delta to sender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54496" y="3337560"/>
            <a:ext cx="283464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54496" y="3337560"/>
            <a:ext cx="2834640" cy="7315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91656" y="34564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3935"/>
                </a:solidFill>
                <a:latin typeface="Calibri"/>
              </a:rPr>
              <a:t>❌  REJECTED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91656" y="384048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Duplicate nonce · invalid signature · fraud flagged · limit exceeded
→ Reverse local deduction · Notify user · Flag for review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44584" y="3337560"/>
            <a:ext cx="283464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44584" y="3337560"/>
            <a:ext cx="2834640" cy="73152"/>
          </a:xfrm>
          <a:prstGeom prst="rect">
            <a:avLst/>
          </a:prstGeom>
          <a:solidFill>
            <a:srgbClr val="00B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81744" y="34564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9F1"/>
                </a:solidFill>
                <a:latin typeface="Calibri"/>
              </a:rPr>
              <a:t>🔁  DUPLICATE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81744" y="384048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Same (sender+receiver+nonce) already processed by another sync
→ Mark as settled · No double-credit · Safe to retry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2970"/>
                </a:solidFill>
                <a:latin typeface="Calibri"/>
              </a:rPr>
              <a:t>Integration with Paytm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04672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06060"/>
                </a:solidFill>
                <a:latin typeface="Calibri"/>
              </a:rPr>
              <a:t>Drop-in, not rip-out — additive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12880" cy="2743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11640312" cy="59436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9844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Zero changes to existing payment flow.  Three Flutter services + one backend module behind a feature flag.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11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6060"/>
                </a:solidFill>
                <a:latin typeface="Calibri"/>
              </a:rPr>
              <a:t>FLUTTER (3 services to add)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77440"/>
            <a:ext cx="5394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377440"/>
            <a:ext cx="64008" cy="713232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231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970"/>
                </a:solidFill>
                <a:latin typeface="Calibri"/>
              </a:rPr>
              <a:t>OfflineLimitService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9748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Calibri"/>
              </a:rPr>
              <a:t>SharedPreferences · limit caching · expiry · local re-scoring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154680"/>
            <a:ext cx="5394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154680"/>
            <a:ext cx="64008" cy="713232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2004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970"/>
                </a:solidFill>
                <a:latin typeface="Calibri"/>
              </a:rPr>
              <a:t>OfflineQueueService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4747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Calibri"/>
              </a:rPr>
              <a:t>SQLite · blob CRUD · pending/synced state tracking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931920"/>
            <a:ext cx="5394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931920"/>
            <a:ext cx="64008" cy="713232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97763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970"/>
                </a:solidFill>
                <a:latin typeface="Calibri"/>
              </a:rPr>
              <a:t>SyncEngine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519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Calibri"/>
              </a:rPr>
              <a:t>Background service · connectivity listener · idempotent POST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0116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6060"/>
                </a:solidFill>
                <a:latin typeface="Calibri"/>
              </a:rPr>
              <a:t>BACKEND (new routes, same DB)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2377440"/>
            <a:ext cx="5943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2377440"/>
            <a:ext cx="64008" cy="713232"/>
          </a:xfrm>
          <a:prstGeom prst="rect">
            <a:avLst/>
          </a:prstGeom>
          <a:solidFill>
            <a:srgbClr val="00B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242316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9F1"/>
                </a:solidFill>
                <a:latin typeface="Courier New"/>
              </a:rPr>
              <a:t>GET /api/user/offline-limit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269748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Calibri"/>
              </a:rPr>
              <a:t>Returns AI limit + risk score + expiry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3154680"/>
            <a:ext cx="5943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0" y="3154680"/>
            <a:ext cx="64008" cy="713232"/>
          </a:xfrm>
          <a:prstGeom prst="rect">
            <a:avLst/>
          </a:prstGeom>
          <a:solidFill>
            <a:srgbClr val="00B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320040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9F1"/>
                </a:solidFill>
                <a:latin typeface="Courier New"/>
              </a:rPr>
              <a:t>POST /api/offline/sync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347472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Calibri"/>
              </a:rPr>
              <a:t>Batch blob reconciliation · per-blob status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3931920"/>
            <a:ext cx="5943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0" y="3931920"/>
            <a:ext cx="64008" cy="713232"/>
          </a:xfrm>
          <a:prstGeom prst="rect">
            <a:avLst/>
          </a:prstGeom>
          <a:solidFill>
            <a:srgbClr val="00B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3977639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9F1"/>
                </a:solidFill>
                <a:latin typeface="Courier New"/>
              </a:rPr>
              <a:t>POST /api/payments/online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425196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Calibri"/>
              </a:rPr>
              <a:t>Online payment · handles offline receiver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663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6060"/>
                </a:solidFill>
                <a:latin typeface="Calibri"/>
              </a:rPr>
              <a:t>ROLLOUT PLAN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029200"/>
            <a:ext cx="2834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51023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970"/>
                </a:solidFill>
                <a:latin typeface="Calibri"/>
              </a:rPr>
              <a:t>Feature Flag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54406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Calibri"/>
              </a:rPr>
              <a:t>Enable for 0% → 1% → 10% → 100% of users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64408" y="5029200"/>
            <a:ext cx="2834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01568" y="51023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970"/>
                </a:solidFill>
                <a:latin typeface="Calibri"/>
              </a:rPr>
              <a:t>Pilot Markets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01568" y="54406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Calibri"/>
              </a:rPr>
              <a:t>Tier 2 cities first — Jaipur, Lucknow, Indore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54496" y="5029200"/>
            <a:ext cx="2834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91656" y="51023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970"/>
                </a:solidFill>
                <a:latin typeface="Calibri"/>
              </a:rPr>
              <a:t>Monitor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91656" y="54406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Calibri"/>
              </a:rPr>
              <a:t>Sync success rate · fraud rate · limit utilisation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44584" y="5029200"/>
            <a:ext cx="2834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81744" y="51023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970"/>
                </a:solidFill>
                <a:latin typeface="Calibri"/>
              </a:rPr>
              <a:t>Iterate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81744" y="54406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  <a:latin typeface="Calibri"/>
              </a:rPr>
              <a:t>Retrain ML model monthly with real usage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2970"/>
                </a:solidFill>
                <a:latin typeface="Calibri"/>
              </a:rPr>
              <a:t>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04672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06060"/>
                </a:solidFill>
                <a:latin typeface="Calibri"/>
              </a:rPr>
              <a:t>Why this matters at Paytm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12880" cy="2743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6692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64008" cy="160020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02970"/>
                </a:solidFill>
                <a:latin typeface="Calibri"/>
              </a:rPr>
              <a:t>500M+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Addressable users in Tier 2/3 &amp; rural India — currently underserved by digital payments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56692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64008" cy="160020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417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02970"/>
                </a:solidFill>
                <a:latin typeface="Calibri"/>
              </a:rPr>
              <a:t>66%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031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Of Indian consumers face monthly payment disruptions — this feature directly resolves each 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017520"/>
            <a:ext cx="56692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017520"/>
            <a:ext cx="64008" cy="160020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2004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02970"/>
                </a:solidFill>
                <a:latin typeface="Calibri"/>
              </a:rPr>
              <a:t>₹0 → ₹5,000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8862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Per-user offline limit creates a new class of micro-credit without touching the banking system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017520"/>
            <a:ext cx="56692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017520"/>
            <a:ext cx="64008" cy="160020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2004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02970"/>
                </a:solidFill>
                <a:latin typeface="Calibri"/>
              </a:rPr>
              <a:t>2 weeks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8862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Integration timeline — drop-in services, feature flag rollout, no existing code modified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892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6060"/>
                </a:solidFill>
                <a:latin typeface="Calibri"/>
              </a:rPr>
              <a:t>COMPETITIVE MOAT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257800"/>
            <a:ext cx="28346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3309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970"/>
                </a:solidFill>
                <a:latin typeface="Calibri"/>
              </a:rPr>
              <a:t>vs. Google Pay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65099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Calibri"/>
              </a:rPr>
              <a:t>No offline payments · requires live internet · no BLE fallback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64408" y="5257800"/>
            <a:ext cx="28346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01568" y="53309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970"/>
                </a:solidFill>
                <a:latin typeface="Calibri"/>
              </a:rPr>
              <a:t>vs. PhonePe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01568" y="565099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Calibri"/>
              </a:rPr>
              <a:t>No AI-assigned limit · no P2P offline transfer capability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54496" y="5257800"/>
            <a:ext cx="28346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91656" y="53309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970"/>
                </a:solidFill>
                <a:latin typeface="Calibri"/>
              </a:rPr>
              <a:t>vs. Cash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565099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Calibri"/>
              </a:rPr>
              <a:t>Fully digital · auditable · reversible · no change-making required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44584" y="5257800"/>
            <a:ext cx="28346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F4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81744" y="53309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970"/>
                </a:solidFill>
                <a:latin typeface="Calibri"/>
              </a:rPr>
              <a:t>vs. Current UPI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81744" y="565099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Calibri"/>
              </a:rPr>
              <a:t>Additive, not disruptive · compatible with existing NPCI rails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Roadmap &amp;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4FD"/>
                </a:solidFill>
                <a:latin typeface="Calibri"/>
              </a:rPr>
              <a:t>A hackathon prototype → a production-ready feature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3657600" cy="4114800"/>
          </a:xfrm>
          <a:prstGeom prst="rect">
            <a:avLst/>
          </a:prstGeom>
          <a:solidFill>
            <a:srgbClr val="0A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657600" cy="685800"/>
          </a:xfrm>
          <a:prstGeom prst="rect">
            <a:avLst/>
          </a:prstGeom>
          <a:solidFill>
            <a:srgbClr val="00B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Phase 1
0–3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•  Pilot: 1,000 merchants in Jaipur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614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•  A/B test offline limit tiers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3697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•  Collect sync failure telemetry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12464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•  Refine ML model with real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8795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•  Security audit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463040"/>
            <a:ext cx="3657600" cy="4114800"/>
          </a:xfrm>
          <a:prstGeom prst="rect">
            <a:avLst/>
          </a:prstGeom>
          <a:solidFill>
            <a:srgbClr val="0A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463040"/>
            <a:ext cx="3657600" cy="685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46304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970"/>
                </a:solidFill>
                <a:latin typeface="Calibri"/>
              </a:rPr>
              <a:t>Phase 2
3–6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2860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•  Full UPI stack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7614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•  NPCI offline payment sandbox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23697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•  iOS + Android GA release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712464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•  Merchant dashboard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18795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•  Fraud model v2 training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463040"/>
            <a:ext cx="3657600" cy="4114800"/>
          </a:xfrm>
          <a:prstGeom prst="rect">
            <a:avLst/>
          </a:prstGeom>
          <a:solidFill>
            <a:srgbClr val="0A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463040"/>
            <a:ext cx="3657600" cy="685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46304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Phase 3
6–12 Months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2860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•  National rollout (all Paytm users)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7614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•  RBI regulatory compliance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23697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•  Cross-bank offline payments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712464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•  International expansion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18795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•  NFC + Bluetooth 5.0 upgrade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623560"/>
            <a:ext cx="11457432" cy="960120"/>
          </a:xfrm>
          <a:prstGeom prst="rect">
            <a:avLst/>
          </a:prstGeom>
          <a:solidFill>
            <a:srgbClr val="0A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6875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  <a:latin typeface="Calibri"/>
              </a:rPr>
              <a:t>🏆  Team Issavibles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01675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Built &amp; shipped in &lt;48 hours: Flutter (iOS + Android) · FastAPI · PostgreSQL · BLE · ML · Deployed on Render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56875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Calibri"/>
              </a:rPr>
              <a:t>Ask: Paytm merchant network for pilot · Backend infra 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6035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paywithoutwifi@issavibles.com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